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69" r:id="rId3"/>
    <p:sldId id="257" r:id="rId4"/>
    <p:sldId id="270" r:id="rId5"/>
    <p:sldId id="271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45" d="100"/>
          <a:sy n="45" d="100"/>
        </p:scale>
        <p:origin x="-66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effectLst/>
                <a:latin typeface="Arial Black" pitchFamily="34" charset="0"/>
              </a:rPr>
              <a:t>Group 01: Chap 06 </a:t>
            </a:r>
            <a:endParaRPr sz="4000" b="1">
              <a:effectLst/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Foundation of group behavior</a:t>
            </a:r>
          </a:p>
          <a:p>
            <a:pPr>
              <a:buNone/>
            </a:pPr>
            <a:r>
              <a:rPr lang="en-US" dirty="0" smtClean="0"/>
              <a:t>Presenters‘</a:t>
            </a:r>
          </a:p>
          <a:p>
            <a:pPr>
              <a:buNone/>
            </a:pPr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2785730"/>
          <a:ext cx="7045842" cy="388974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522921"/>
                <a:gridCol w="3522921"/>
              </a:tblGrid>
              <a:tr h="940982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3200" dirty="0" smtClean="0"/>
                        <a:t>Faisal Khan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3200" dirty="0" smtClean="0"/>
                        <a:t>Kiran Zahra</a:t>
                      </a:r>
                      <a:endParaRPr lang="en-US" sz="3200" dirty="0"/>
                    </a:p>
                  </a:txBody>
                  <a:tcPr/>
                </a:tc>
              </a:tr>
              <a:tr h="940982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3200" b="1" dirty="0" err="1" smtClean="0"/>
                        <a:t>Shakeel</a:t>
                      </a:r>
                      <a:r>
                        <a:rPr lang="en-US" sz="3200" b="1" dirty="0" smtClean="0"/>
                        <a:t> Khan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3200" b="1" dirty="0" smtClean="0"/>
                        <a:t>Ayesha </a:t>
                      </a:r>
                      <a:r>
                        <a:rPr lang="en-US" sz="3200" b="1" dirty="0" err="1" smtClean="0"/>
                        <a:t>Gul</a:t>
                      </a:r>
                      <a:endParaRPr lang="en-US" sz="3200" b="1" dirty="0"/>
                    </a:p>
                  </a:txBody>
                  <a:tcPr/>
                </a:tc>
              </a:tr>
              <a:tr h="940982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3200" b="1" dirty="0" smtClean="0"/>
                        <a:t>Haseeb Ahmad</a:t>
                      </a:r>
                      <a:r>
                        <a:rPr lang="en-US" sz="3200" b="1" baseline="0" dirty="0" smtClean="0"/>
                        <a:t> 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3200" b="1" dirty="0" err="1" smtClean="0"/>
                        <a:t>Nabeela</a:t>
                      </a:r>
                      <a:r>
                        <a:rPr lang="en-US" sz="3200" b="1" dirty="0" smtClean="0"/>
                        <a:t> </a:t>
                      </a:r>
                      <a:r>
                        <a:rPr lang="en-US" sz="3200" b="1" dirty="0" err="1" smtClean="0"/>
                        <a:t>Bibi</a:t>
                      </a:r>
                      <a:endParaRPr lang="en-US" sz="3200" b="1" dirty="0"/>
                    </a:p>
                  </a:txBody>
                  <a:tcPr/>
                </a:tc>
              </a:tr>
              <a:tr h="940982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3200" b="1" dirty="0" err="1" smtClean="0"/>
                        <a:t>Muqadas</a:t>
                      </a:r>
                      <a:r>
                        <a:rPr lang="en-US" sz="3200" b="1" dirty="0" smtClean="0"/>
                        <a:t> Ali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3200" b="1" dirty="0" err="1" smtClean="0"/>
                        <a:t>Alisbha</a:t>
                      </a:r>
                      <a:r>
                        <a:rPr lang="en-US" sz="3200" b="1" baseline="0" dirty="0" smtClean="0"/>
                        <a:t> </a:t>
                      </a:r>
                      <a:r>
                        <a:rPr lang="en-US" sz="3200" b="1" baseline="0" dirty="0" err="1" smtClean="0"/>
                        <a:t>Mahboob</a:t>
                      </a:r>
                      <a:endParaRPr lang="en-US" sz="32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effectLst/>
              </a:rPr>
              <a:t>Topic Covered</a:t>
            </a:r>
            <a:endParaRPr lang="en-US" b="1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 smtClean="0"/>
              <a:t>Definition </a:t>
            </a:r>
            <a:r>
              <a:rPr lang="en-US" dirty="0" smtClean="0"/>
              <a:t>of Group and </a:t>
            </a:r>
            <a:r>
              <a:rPr lang="en-US" dirty="0" smtClean="0"/>
              <a:t>Team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Why do People Join Groups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Stages </a:t>
            </a:r>
            <a:r>
              <a:rPr lang="en-US" dirty="0" smtClean="0"/>
              <a:t>of Group Development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Characteristics of a Work Group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effectLst/>
              </a:rPr>
              <a:t>Definition of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A group </a:t>
            </a:r>
            <a:r>
              <a:rPr/>
              <a:t>is </a:t>
            </a:r>
            <a:r>
              <a:rPr lang="en-US" dirty="0" smtClean="0"/>
              <a:t>the set of </a:t>
            </a:r>
            <a:r>
              <a:rPr smtClean="0"/>
              <a:t>two </a:t>
            </a:r>
            <a:r>
              <a:t>or more people who interact with each other.</a:t>
            </a:r>
          </a:p>
          <a:p>
            <a:pPr>
              <a:lnSpc>
                <a:spcPct val="150000"/>
              </a:lnSpc>
            </a:pPr>
            <a:r>
              <a:t>Members work together to achieve common goals.</a:t>
            </a:r>
          </a:p>
          <a:p>
            <a:pPr>
              <a:lnSpc>
                <a:spcPct val="150000"/>
              </a:lnSpc>
            </a:pPr>
            <a:r>
              <a:t>Groups may be formal or informal.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effectLst/>
              </a:rPr>
              <a:t>Formal Group</a:t>
            </a:r>
            <a:endParaRPr lang="en-US" b="1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Formed Intentionally.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They are officially recognized.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Well defined structure.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Size of group is generally large.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Follow established channels and protocol.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effectLst/>
              </a:rPr>
              <a:t>Informal Groups</a:t>
            </a:r>
            <a:endParaRPr lang="en-US" b="1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Formed Organically.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They are not officially recognized.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Structure is not defined.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Size of group is relatively small.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No establish channel or protocol is there.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effectLst/>
              </a:rPr>
              <a:t>Definition of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sz="3600"/>
              <a:t>A team is a group of people working together for a shared objective.</a:t>
            </a:r>
          </a:p>
          <a:p>
            <a:pPr>
              <a:lnSpc>
                <a:spcPct val="150000"/>
              </a:lnSpc>
            </a:pPr>
            <a:r>
              <a:rPr sz="3600"/>
              <a:t>Team members depend on each other.</a:t>
            </a:r>
          </a:p>
          <a:p>
            <a:pPr>
              <a:lnSpc>
                <a:spcPct val="150000"/>
              </a:lnSpc>
            </a:pPr>
            <a:r>
              <a:rPr sz="3600"/>
              <a:t>Teams focus on cooperation and performance.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>
                <a:effectLst/>
              </a:rPr>
              <a:t>Difference Between Group and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t>Group: Individual performance is important.</a:t>
            </a:r>
          </a:p>
          <a:p>
            <a:pPr>
              <a:lnSpc>
                <a:spcPct val="150000"/>
              </a:lnSpc>
            </a:pPr>
            <a:r>
              <a:t>Team: Collective performance is important.</a:t>
            </a:r>
          </a:p>
          <a:p>
            <a:pPr>
              <a:lnSpc>
                <a:spcPct val="150000"/>
              </a:lnSpc>
            </a:pPr>
            <a:r>
              <a:t>Group members work independently.</a:t>
            </a:r>
          </a:p>
          <a:p>
            <a:pPr>
              <a:lnSpc>
                <a:spcPct val="150000"/>
              </a:lnSpc>
            </a:pPr>
            <a:r>
              <a:t>Team members work collaboratively.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effectLst/>
              </a:rPr>
              <a:t>Why do People Join Groups?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3600"/>
              <a:t>For security and support.</a:t>
            </a:r>
          </a:p>
          <a:p>
            <a:pPr>
              <a:lnSpc>
                <a:spcPct val="150000"/>
              </a:lnSpc>
            </a:pPr>
            <a:r>
              <a:rPr sz="3600"/>
              <a:t>To achieve common goals.</a:t>
            </a:r>
          </a:p>
          <a:p>
            <a:pPr>
              <a:lnSpc>
                <a:spcPct val="150000"/>
              </a:lnSpc>
            </a:pPr>
            <a:r>
              <a:rPr sz="3600"/>
              <a:t>For social interaction and friendship.</a:t>
            </a:r>
          </a:p>
          <a:p>
            <a:pPr>
              <a:lnSpc>
                <a:spcPct val="150000"/>
              </a:lnSpc>
            </a:pPr>
            <a:r>
              <a:rPr sz="3600"/>
              <a:t>To gain status and recognition.</a:t>
            </a:r>
          </a:p>
          <a:p>
            <a:pPr>
              <a:lnSpc>
                <a:spcPct val="150000"/>
              </a:lnSpc>
            </a:pPr>
            <a:r>
              <a:rPr sz="3600"/>
              <a:t>To share knowledge and ideas.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>
                <a:effectLst/>
              </a:rPr>
              <a:t>Stages of Group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3600"/>
              <a:t>1. Forming</a:t>
            </a:r>
          </a:p>
          <a:p>
            <a:pPr>
              <a:lnSpc>
                <a:spcPct val="150000"/>
              </a:lnSpc>
            </a:pPr>
            <a:r>
              <a:rPr sz="3600"/>
              <a:t>2. Storming</a:t>
            </a:r>
          </a:p>
          <a:p>
            <a:pPr>
              <a:lnSpc>
                <a:spcPct val="150000"/>
              </a:lnSpc>
            </a:pPr>
            <a:r>
              <a:rPr sz="3600"/>
              <a:t>3. Norming</a:t>
            </a:r>
          </a:p>
          <a:p>
            <a:pPr>
              <a:lnSpc>
                <a:spcPct val="150000"/>
              </a:lnSpc>
            </a:pPr>
            <a:r>
              <a:rPr sz="3600"/>
              <a:t>4. Performing</a:t>
            </a:r>
          </a:p>
          <a:p>
            <a:pPr>
              <a:lnSpc>
                <a:spcPct val="150000"/>
              </a:lnSpc>
            </a:pPr>
            <a:r>
              <a:rPr sz="3600"/>
              <a:t>5. Adjourning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effectLst/>
              </a:rPr>
              <a:t>Forming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3600"/>
              <a:t>Members meet and get to know each other.</a:t>
            </a:r>
          </a:p>
          <a:p>
            <a:pPr>
              <a:lnSpc>
                <a:spcPct val="150000"/>
              </a:lnSpc>
            </a:pPr>
            <a:r>
              <a:rPr sz="3600"/>
              <a:t>Goals and tasks are discussed.</a:t>
            </a:r>
          </a:p>
          <a:p>
            <a:pPr>
              <a:lnSpc>
                <a:spcPct val="150000"/>
              </a:lnSpc>
            </a:pPr>
            <a:r>
              <a:rPr sz="3600"/>
              <a:t>People behave politely and carefully.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effectLst/>
              </a:rPr>
              <a:t>Storming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sz="3600"/>
              <a:t>Conflicts and disagreements may occur.</a:t>
            </a:r>
          </a:p>
          <a:p>
            <a:pPr>
              <a:lnSpc>
                <a:spcPct val="150000"/>
              </a:lnSpc>
            </a:pPr>
            <a:r>
              <a:rPr sz="3600"/>
              <a:t>Members compete for roles and leadership.</a:t>
            </a:r>
          </a:p>
          <a:p>
            <a:pPr>
              <a:lnSpc>
                <a:spcPct val="150000"/>
              </a:lnSpc>
            </a:pPr>
            <a:r>
              <a:rPr sz="3600"/>
              <a:t>Communication becomes more open.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effectLst/>
              </a:rPr>
              <a:t>Norming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3600"/>
              <a:t>Group members develop trust and cooperation.</a:t>
            </a:r>
          </a:p>
          <a:p>
            <a:pPr>
              <a:lnSpc>
                <a:spcPct val="150000"/>
              </a:lnSpc>
            </a:pPr>
            <a:r>
              <a:rPr sz="3600"/>
              <a:t>Rules and norms are established.</a:t>
            </a:r>
          </a:p>
          <a:p>
            <a:pPr>
              <a:lnSpc>
                <a:spcPct val="150000"/>
              </a:lnSpc>
            </a:pPr>
            <a:r>
              <a:rPr sz="3600"/>
              <a:t>Team spirit increases.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effectLst/>
              </a:rPr>
              <a:t>Performing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3600"/>
              <a:t>The group works effectively toward goals.</a:t>
            </a:r>
          </a:p>
          <a:p>
            <a:pPr>
              <a:lnSpc>
                <a:spcPct val="150000"/>
              </a:lnSpc>
            </a:pPr>
            <a:r>
              <a:rPr sz="3600"/>
              <a:t>Members cooperate and solve problems together.</a:t>
            </a:r>
          </a:p>
          <a:p>
            <a:pPr>
              <a:lnSpc>
                <a:spcPct val="150000"/>
              </a:lnSpc>
            </a:pPr>
            <a:r>
              <a:rPr sz="3600"/>
              <a:t>High level of productivity is achieved.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effectLst/>
              </a:rPr>
              <a:t>Adjourning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3600"/>
              <a:t>The group completes its task.</a:t>
            </a:r>
          </a:p>
          <a:p>
            <a:pPr>
              <a:lnSpc>
                <a:spcPct val="150000"/>
              </a:lnSpc>
            </a:pPr>
            <a:r>
              <a:rPr sz="3600"/>
              <a:t>Members prepare to separate.</a:t>
            </a:r>
          </a:p>
          <a:p>
            <a:pPr>
              <a:lnSpc>
                <a:spcPct val="150000"/>
              </a:lnSpc>
            </a:pPr>
            <a:r>
              <a:rPr sz="3600"/>
              <a:t>Achievements are reviewed and celebrated.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>
                <a:effectLst/>
              </a:rPr>
              <a:t>Characteristics of a Work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3600"/>
              <a:t>Common purpose and goals.</a:t>
            </a:r>
          </a:p>
          <a:p>
            <a:pPr>
              <a:lnSpc>
                <a:spcPct val="150000"/>
              </a:lnSpc>
            </a:pPr>
            <a:r>
              <a:rPr sz="3600"/>
              <a:t>Interaction among members.</a:t>
            </a:r>
          </a:p>
          <a:p>
            <a:pPr>
              <a:lnSpc>
                <a:spcPct val="150000"/>
              </a:lnSpc>
            </a:pPr>
            <a:r>
              <a:rPr sz="3600"/>
              <a:t>Clear roles and responsibilities.</a:t>
            </a:r>
          </a:p>
          <a:p>
            <a:pPr>
              <a:lnSpc>
                <a:spcPct val="150000"/>
              </a:lnSpc>
            </a:pPr>
            <a:r>
              <a:rPr sz="3600"/>
              <a:t>Good communication.</a:t>
            </a:r>
          </a:p>
          <a:p>
            <a:pPr>
              <a:lnSpc>
                <a:spcPct val="150000"/>
              </a:lnSpc>
            </a:pPr>
            <a:r>
              <a:rPr sz="3600"/>
              <a:t>Coordination and cooperation.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effectLst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sz="3600"/>
              <a:t>Groups and teams are important in organizations.</a:t>
            </a:r>
          </a:p>
          <a:p>
            <a:pPr>
              <a:lnSpc>
                <a:spcPct val="150000"/>
              </a:lnSpc>
            </a:pPr>
            <a:r>
              <a:rPr sz="3600"/>
              <a:t>Effective teamwork improves performance.</a:t>
            </a:r>
          </a:p>
          <a:p>
            <a:pPr>
              <a:lnSpc>
                <a:spcPct val="150000"/>
              </a:lnSpc>
            </a:pPr>
            <a:r>
              <a:rPr sz="3600"/>
              <a:t>Understanding group behaviour helps managers succeed.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download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44</TotalTime>
  <Words>404</Words>
  <Application>Microsoft Macintosh PowerPoint</Application>
  <PresentationFormat>On-screen Show (4:3)</PresentationFormat>
  <Paragraphs>83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Solstice</vt:lpstr>
      <vt:lpstr>Group 01: Chap 06 </vt:lpstr>
      <vt:lpstr>Topic Covered</vt:lpstr>
      <vt:lpstr>Definition of Group</vt:lpstr>
      <vt:lpstr>Formal Group</vt:lpstr>
      <vt:lpstr>Informal Groups</vt:lpstr>
      <vt:lpstr>Definition of Team</vt:lpstr>
      <vt:lpstr>Difference Between Group and Team</vt:lpstr>
      <vt:lpstr>Why do People Join Groups?</vt:lpstr>
      <vt:lpstr>Stages of Group Development</vt:lpstr>
      <vt:lpstr>Forming Stage</vt:lpstr>
      <vt:lpstr>Storming Stage</vt:lpstr>
      <vt:lpstr>Norming Stage</vt:lpstr>
      <vt:lpstr>Performing Stage</vt:lpstr>
      <vt:lpstr>Adjourning Stage</vt:lpstr>
      <vt:lpstr>Characteristics of a Work Group</vt:lpstr>
      <vt:lpstr>Conclusion</vt:lpstr>
      <vt:lpstr>Slide 17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01: Chap 06 </dc:title>
  <dc:subject/>
  <dc:creator/>
  <cp:keywords/>
  <dc:description>generated using python-pptx</dc:description>
  <cp:lastModifiedBy>Al Syed</cp:lastModifiedBy>
  <cp:revision>6</cp:revision>
  <dcterms:created xsi:type="dcterms:W3CDTF">2013-01-27T09:14:16Z</dcterms:created>
  <dcterms:modified xsi:type="dcterms:W3CDTF">2026-05-09T03:29:29Z</dcterms:modified>
  <cp:category/>
</cp:coreProperties>
</file>